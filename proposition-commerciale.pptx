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4023360" cy="320040"/>
          </a:xfrm>
          <a:prstGeom prst="rect">
            <a:avLst/>
          </a:prstGeom>
          <a:solidFill>
            <a:srgbClr val="22B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22B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5895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343"/>
                </a:solidFill>
                <a:latin typeface="Arial"/>
              </a:rPr>
              <a:t>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6868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Tech Point Paris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3258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BFE6"/>
                </a:solidFill>
                <a:latin typeface="Arial"/>
              </a:rPr>
              <a:t>Réparation &amp; téléphonie · Paris 12e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Votre site web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6A1A"/>
                </a:solidFill>
                <a:latin typeface="Arial"/>
              </a:rPr>
              <a:t>+ votre visibilité locale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9D6EC"/>
                </a:solidFill>
                <a:latin typeface="Arial"/>
              </a:rPr>
              <a:t>Proposition commerciale — comment reprendre l'avantage face aux ateliers du quartier Montgallet.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2D4"/>
                </a:solidFill>
                <a:latin typeface="Arial"/>
              </a:rPr>
              <a:t>73 rue de Reuilly, 75012 Paris   ·   01 75 51 02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46304" cy="475488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343"/>
                </a:solidFill>
                <a:latin typeface="Arial"/>
              </a:rPr>
              <a:t>Aujourd'hui, vous êtes invisible en ligne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F6A1A"/>
                </a:solidFill>
                <a:latin typeface="Arial"/>
              </a:rPr>
              <a:t>›  </a:t>
            </a:r>
            <a:r>
              <a:rPr sz="1600" b="1">
                <a:solidFill>
                  <a:srgbClr val="1A2333"/>
                </a:solidFill>
                <a:latin typeface="Arial"/>
              </a:rPr>
              <a:t>Pas de vrai site : </a:t>
            </a:r>
            <a:r>
              <a:rPr sz="1600">
                <a:solidFill>
                  <a:srgbClr val="1A2333"/>
                </a:solidFill>
                <a:latin typeface="Arial"/>
              </a:rPr>
              <a:t>techpointparis.com est une page de parking, pas une vitrine.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F6A1A"/>
                </a:solidFill>
                <a:latin typeface="Arial"/>
              </a:rPr>
              <a:t>›  </a:t>
            </a:r>
            <a:r>
              <a:rPr sz="1600" b="1">
                <a:solidFill>
                  <a:srgbClr val="1A2333"/>
                </a:solidFill>
                <a:latin typeface="Arial"/>
              </a:rPr>
              <a:t>Pas de fiche Google Business confirmée : </a:t>
            </a:r>
            <a:r>
              <a:rPr sz="1600">
                <a:solidFill>
                  <a:srgbClr val="1A2333"/>
                </a:solidFill>
                <a:latin typeface="Arial"/>
              </a:rPr>
              <a:t>absent de Google Maps, là où se décident les réparations « près de moi ».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F6A1A"/>
                </a:solidFill>
                <a:latin typeface="Arial"/>
              </a:rPr>
              <a:t>›  </a:t>
            </a:r>
            <a:r>
              <a:rPr sz="1600" b="1">
                <a:solidFill>
                  <a:srgbClr val="1A2333"/>
                </a:solidFill>
                <a:latin typeface="Arial"/>
              </a:rPr>
              <a:t>Réputation à travailler : </a:t>
            </a:r>
            <a:r>
              <a:rPr sz="1600">
                <a:solidFill>
                  <a:srgbClr val="1A2333"/>
                </a:solidFill>
                <a:latin typeface="Arial"/>
              </a:rPr>
              <a:t>3,2/5 sur 30+ avis, alors qu'un avis client décrit une réparation « rapide et sympa ».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F6A1A"/>
                </a:solidFill>
                <a:latin typeface="Arial"/>
              </a:rPr>
              <a:t>›  </a:t>
            </a:r>
            <a:r>
              <a:rPr sz="1600" b="1">
                <a:solidFill>
                  <a:srgbClr val="1A2333"/>
                </a:solidFill>
                <a:latin typeface="Arial"/>
              </a:rPr>
              <a:t>Un client qui ne vous connaît pas </a:t>
            </a:r>
            <a:r>
              <a:rPr sz="1600">
                <a:solidFill>
                  <a:srgbClr val="1A2333"/>
                </a:solidFill>
                <a:latin typeface="Arial"/>
              </a:rPr>
              <a:t>tombe sur le voisin, parce que le voisin est visible et rassurant, pas vous.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931920" cy="3566160"/>
          </a:xfrm>
          <a:prstGeom prst="roundRect">
            <a:avLst/>
          </a:prstGeom>
          <a:solidFill>
            <a:srgbClr val="1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19456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6A1A"/>
                </a:solidFill>
                <a:latin typeface="Arial"/>
              </a:rPr>
              <a:t>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566160"/>
            <a:ext cx="3566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concurrents directs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à moins de 300 m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BFE6"/>
                </a:solidFill>
                <a:latin typeface="Arial"/>
              </a:rPr>
              <a:t>Plusieurs ont déjà site, garantie 12 mois et avis 4-5/5.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46304" cy="475488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CE QUI A ÉTÉ LIVRÉ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343"/>
                </a:solidFill>
                <a:latin typeface="Arial"/>
              </a:rPr>
              <a:t>Un site d'enseigne, pas un site bricolé</a:t>
            </a:r>
          </a:p>
        </p:txBody>
      </p:sp>
      <p:pic>
        <p:nvPicPr>
          <p:cNvPr id="6" name="Picture 5" descr="deck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943600" cy="4754880"/>
          </a:xfrm>
          <a:prstGeom prst="rect">
            <a:avLst/>
          </a:prstGeom>
        </p:spPr>
      </p:pic>
      <p:pic>
        <p:nvPicPr>
          <p:cNvPr id="7" name="Picture 6" descr="final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600200"/>
            <a:ext cx="1554480" cy="3364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21240" y="1737360"/>
            <a:ext cx="2011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›  </a:t>
            </a:r>
            <a:r>
              <a:rPr sz="1200">
                <a:solidFill>
                  <a:srgbClr val="1A2333"/>
                </a:solidFill>
                <a:latin typeface="Arial"/>
              </a:rPr>
              <a:t>Téléphone cliquable partout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›  </a:t>
            </a:r>
            <a:r>
              <a:rPr sz="1200">
                <a:solidFill>
                  <a:srgbClr val="1A2333"/>
                </a:solidFill>
                <a:latin typeface="Arial"/>
              </a:rPr>
              <a:t>Photo d'atelier + visuels produits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›  </a:t>
            </a:r>
            <a:r>
              <a:rPr sz="1200">
                <a:solidFill>
                  <a:srgbClr val="1A2333"/>
                </a:solidFill>
                <a:latin typeface="Arial"/>
              </a:rPr>
              <a:t>Réassurance dès l'accueil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›  </a:t>
            </a:r>
            <a:r>
              <a:rPr sz="1200">
                <a:solidFill>
                  <a:srgbClr val="1A2333"/>
                </a:solidFill>
                <a:latin typeface="Arial"/>
              </a:rPr>
              <a:t>Carte + horaires + itinéraire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›  </a:t>
            </a:r>
            <a:r>
              <a:rPr sz="1200">
                <a:solidFill>
                  <a:srgbClr val="1A2333"/>
                </a:solidFill>
                <a:latin typeface="Arial"/>
              </a:rPr>
              <a:t>Rapide et mobile-first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46304" cy="475488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VOS BÉNÉFICES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343"/>
                </a:solidFill>
                <a:latin typeface="Arial"/>
              </a:rPr>
              <a:t>Concret, ancré dans votre situation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46304" cy="1965960"/>
          </a:xfrm>
          <a:prstGeom prst="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343"/>
                </a:solidFill>
                <a:latin typeface="Arial"/>
              </a:rPr>
              <a:t>Vous cessez d'être invisible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80"/>
                </a:solidFill>
                <a:latin typeface="Arial"/>
              </a:rPr>
              <a:t>Vous apparaissez enfin quand on cherche « réparation téléphone Paris 12 », au même niveau que vos 10 voisins.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146304" cy="1965960"/>
          </a:xfrm>
          <a:prstGeom prst="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842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343"/>
                </a:solidFill>
                <a:latin typeface="Arial"/>
              </a:rPr>
              <a:t>Vous rassurez autant qu'eux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96312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80"/>
                </a:solidFill>
                <a:latin typeface="Arial"/>
              </a:rPr>
              <a:t>Garantie, délai et diagnostic affichés : le même signal de confiance qu'un concurrent QualiRépar.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46304" cy="1965960"/>
          </a:xfrm>
          <a:prstGeom prst="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78807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343"/>
                </a:solidFill>
                <a:latin typeface="Arial"/>
              </a:rPr>
              <a:t>Un écran cassé = un appel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90871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80"/>
                </a:solidFill>
                <a:latin typeface="Arial"/>
              </a:rPr>
              <a:t>Sur mobile, le client vous joint en un tap au lieu d'aller voir la boutique suivante.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146304" cy="1965960"/>
          </a:xfrm>
          <a:prstGeom prst="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78807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343"/>
                </a:solidFill>
                <a:latin typeface="Arial"/>
              </a:rPr>
              <a:t>Vous récupérez votre 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90871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80"/>
                </a:solidFill>
                <a:latin typeface="Arial"/>
              </a:rPr>
              <a:t>« Tech Point Paris » sur Google renvoie enfin vers vous, pas vers une page qui vend le domaine.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46304" cy="475488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REVIEW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343"/>
                </a:solidFill>
                <a:latin typeface="Arial"/>
              </a:rPr>
              <a:t>Trouvé sur Google, pas juste « en ligne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343"/>
                </a:solidFill>
                <a:latin typeface="Arial"/>
              </a:rPr>
              <a:t>Technique on-page : en place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A9A4E"/>
                </a:solidFill>
                <a:latin typeface="Arial"/>
              </a:rPr>
              <a:t>✓  </a:t>
            </a:r>
            <a:r>
              <a:rPr sz="1350">
                <a:solidFill>
                  <a:srgbClr val="1A2333"/>
                </a:solidFill>
                <a:latin typeface="Arial"/>
              </a:rPr>
              <a:t>Titres &amp; descriptions ville + activité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A9A4E"/>
                </a:solidFill>
                <a:latin typeface="Arial"/>
              </a:rPr>
              <a:t>✓  </a:t>
            </a:r>
            <a:r>
              <a:rPr sz="1350">
                <a:solidFill>
                  <a:srgbClr val="1A2333"/>
                </a:solidFill>
                <a:latin typeface="Arial"/>
              </a:rPr>
              <a:t>Balisage LocalBusiness (schema.org)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A9A4E"/>
                </a:solidFill>
                <a:latin typeface="Arial"/>
              </a:rPr>
              <a:t>✓  </a:t>
            </a:r>
            <a:r>
              <a:rPr sz="1350">
                <a:solidFill>
                  <a:srgbClr val="1A2333"/>
                </a:solidFill>
                <a:latin typeface="Arial"/>
              </a:rPr>
              <a:t>Images crawlables + textes alternatifs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A9A4E"/>
                </a:solidFill>
                <a:latin typeface="Arial"/>
              </a:rPr>
              <a:t>✓  </a:t>
            </a:r>
            <a:r>
              <a:rPr sz="1350">
                <a:solidFill>
                  <a:srgbClr val="1A2333"/>
                </a:solidFill>
                <a:latin typeface="Arial"/>
              </a:rPr>
              <a:t>robots.txt, sitemap.xml, langue FR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A9A4E"/>
                </a:solidFill>
                <a:latin typeface="Arial"/>
              </a:rPr>
              <a:t>✓  </a:t>
            </a:r>
            <a:r>
              <a:rPr sz="1350">
                <a:solidFill>
                  <a:srgbClr val="1A2333"/>
                </a:solidFill>
                <a:latin typeface="Arial"/>
              </a:rPr>
              <a:t>Mobile-first, images légères (300 Ko)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4480560"/>
          </a:xfrm>
          <a:prstGeom prst="roundRect">
            <a:avLst/>
          </a:prstGeom>
          <a:solidFill>
            <a:srgbClr val="1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BFE6"/>
                </a:solidFill>
                <a:latin typeface="Arial"/>
              </a:rPr>
              <a:t>Le vrai levier : le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F6A1A"/>
                </a:solidFill>
                <a:latin typeface="Arial"/>
              </a:rPr>
              <a:t>›  </a:t>
            </a:r>
            <a:r>
              <a:rPr sz="1350">
                <a:solidFill>
                  <a:srgbClr val="FFFFFF"/>
                </a:solidFill>
                <a:latin typeface="Arial"/>
              </a:rPr>
              <a:t>Créer la fiche Google Business (contenu prêt)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F6A1A"/>
                </a:solidFill>
                <a:latin typeface="Arial"/>
              </a:rPr>
              <a:t>›  </a:t>
            </a:r>
            <a:r>
              <a:rPr sz="1350">
                <a:solidFill>
                  <a:srgbClr val="FFFFFF"/>
                </a:solidFill>
                <a:latin typeface="Arial"/>
              </a:rPr>
              <a:t>Cohérence nom / adresse / téléphone partout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F6A1A"/>
                </a:solidFill>
                <a:latin typeface="Arial"/>
              </a:rPr>
              <a:t>›  </a:t>
            </a:r>
            <a:r>
              <a:rPr sz="1350">
                <a:solidFill>
                  <a:srgbClr val="FFFFFF"/>
                </a:solidFill>
                <a:latin typeface="Arial"/>
              </a:rPr>
              <a:t>Répondre aux avis + en collecter après réparation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F6A1A"/>
                </a:solidFill>
                <a:latin typeface="Arial"/>
              </a:rPr>
              <a:t>›  </a:t>
            </a:r>
            <a:r>
              <a:rPr sz="1350">
                <a:solidFill>
                  <a:srgbClr val="FFFFFF"/>
                </a:solidFill>
                <a:latin typeface="Arial"/>
              </a:rPr>
              <a:t>Citations sur les annuaires locaux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F6A1A"/>
                </a:solidFill>
                <a:latin typeface="Arial"/>
              </a:rPr>
              <a:t>›  </a:t>
            </a:r>
            <a:r>
              <a:rPr sz="1350">
                <a:solidFill>
                  <a:srgbClr val="FFFFFF"/>
                </a:solidFill>
                <a:latin typeface="Arial"/>
              </a:rPr>
              <a:t>Plus tard : une page par prestation / marque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46304" cy="475488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L'OFFRE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343"/>
                </a:solidFill>
                <a:latin typeface="Arial"/>
              </a:rPr>
              <a:t>Clair, sans engagement piégeux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4114800"/>
          </a:xfrm>
          <a:prstGeom prst="roundRect">
            <a:avLst/>
          </a:prstGeom>
          <a:solidFill>
            <a:srgbClr val="1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Mise en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290 €</a:t>
            </a:r>
            <a:r>
              <a:rPr sz="1300" b="0">
                <a:solidFill>
                  <a:srgbClr val="CFDDF2"/>
                </a:solidFill>
                <a:latin typeface="Arial"/>
              </a:rPr>
              <a:t> une fois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CF8"/>
                </a:solidFill>
                <a:latin typeface="Arial"/>
              </a:rPr>
              <a:t>Site livré et mis en ligne, contenu, visuels, carte, SEO de base, mentions légales, fiche Google prête.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4114800"/>
          </a:xfrm>
          <a:prstGeom prst="roundRect">
            <a:avLst/>
          </a:prstGeom>
          <a:solidFill>
            <a:srgbClr val="2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Abonnement Sérénité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29 €</a:t>
            </a:r>
            <a:r>
              <a:rPr sz="1300" b="0">
                <a:solidFill>
                  <a:srgbClr val="CFDDF2"/>
                </a:solidFill>
                <a:latin typeface="Arial"/>
              </a:rPr>
              <a:t> /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947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CF8"/>
                </a:solidFill>
                <a:latin typeface="Arial"/>
              </a:rPr>
              <a:t>Hébergement, sauvegarde, nom de domaine, 2 modifications / mois,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520440" cy="4114800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RECOMMANDÉ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+ Visibilité locale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+25 €</a:t>
            </a:r>
            <a:r>
              <a:rPr sz="1300" b="0">
                <a:solidFill>
                  <a:srgbClr val="CFDDF2"/>
                </a:solidFill>
                <a:latin typeface="Arial"/>
              </a:rPr>
              <a:t> /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947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CF8"/>
                </a:solidFill>
                <a:latin typeface="Arial"/>
              </a:rPr>
              <a:t>Fiche Google optimisée, suivi des mots-clés locaux, conseils avis. Recommandé ici.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80"/>
                </a:solidFill>
                <a:latin typeface="Arial"/>
              </a:rPr>
              <a:t>Inclus ET non inclus précisés à l'avance. Résiliation 30 jours. Le site et le contenu vous appartiennent.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46304" cy="475488"/>
          </a:xfrm>
          <a:prstGeom prst="round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A1A"/>
                </a:solidFill>
                <a:latin typeface="Arial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343"/>
                </a:solidFill>
                <a:latin typeface="Arial"/>
              </a:rPr>
              <a:t>On lance quoi, dans quel ordre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550" b="1">
                <a:solidFill>
                  <a:srgbClr val="FF6A1A"/>
                </a:solidFill>
                <a:latin typeface="Arial"/>
              </a:rPr>
              <a:t>›  </a:t>
            </a:r>
            <a:r>
              <a:rPr sz="1550" b="1">
                <a:solidFill>
                  <a:srgbClr val="1A2333"/>
                </a:solidFill>
                <a:latin typeface="Arial"/>
              </a:rPr>
              <a:t>1. Fiche Google Business — </a:t>
            </a:r>
            <a:r>
              <a:rPr sz="1550">
                <a:solidFill>
                  <a:srgbClr val="1A2333"/>
                </a:solidFill>
                <a:latin typeface="Arial"/>
              </a:rPr>
              <a:t>en ligne en quelques jours, visibilité Maps immédiate.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550" b="1">
                <a:solidFill>
                  <a:srgbClr val="FF6A1A"/>
                </a:solidFill>
                <a:latin typeface="Arial"/>
              </a:rPr>
              <a:t>›  </a:t>
            </a:r>
            <a:r>
              <a:rPr sz="1550" b="1">
                <a:solidFill>
                  <a:srgbClr val="1A2333"/>
                </a:solidFill>
                <a:latin typeface="Arial"/>
              </a:rPr>
              <a:t>2. Mise en ligne — </a:t>
            </a:r>
            <a:r>
              <a:rPr sz="1550">
                <a:solidFill>
                  <a:srgbClr val="1A2333"/>
                </a:solidFill>
                <a:latin typeface="Arial"/>
              </a:rPr>
              <a:t>domaine + hébergement HTTPS, puis sitemap dans la Search Console.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550" b="1">
                <a:solidFill>
                  <a:srgbClr val="FF6A1A"/>
                </a:solidFill>
                <a:latin typeface="Arial"/>
              </a:rPr>
              <a:t>›  </a:t>
            </a:r>
            <a:r>
              <a:rPr sz="1550" b="1">
                <a:solidFill>
                  <a:srgbClr val="1A2333"/>
                </a:solidFill>
                <a:latin typeface="Arial"/>
              </a:rPr>
              <a:t>3. Avis clients — </a:t>
            </a:r>
            <a:r>
              <a:rPr sz="1550">
                <a:solidFill>
                  <a:srgbClr val="1A2333"/>
                </a:solidFill>
                <a:latin typeface="Arial"/>
              </a:rPr>
              <a:t>répondre à l'existant et collecter après chaque réparation.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550" b="1">
                <a:solidFill>
                  <a:srgbClr val="FF6A1A"/>
                </a:solidFill>
                <a:latin typeface="Arial"/>
              </a:rPr>
              <a:t>›  </a:t>
            </a:r>
            <a:r>
              <a:rPr sz="1550" b="1">
                <a:solidFill>
                  <a:srgbClr val="1A2333"/>
                </a:solidFill>
                <a:latin typeface="Arial"/>
              </a:rPr>
              <a:t>4. Compléter le contenu — </a:t>
            </a:r>
            <a:r>
              <a:rPr sz="1550">
                <a:solidFill>
                  <a:srgbClr val="1A2333"/>
                </a:solidFill>
                <a:latin typeface="Arial"/>
              </a:rPr>
              <a:t>garantie, marques, délais, tarifs pour couvrir plus de recherches.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4480560" cy="4023360"/>
          </a:xfrm>
          <a:prstGeom prst="roundRect">
            <a:avLst/>
          </a:prstGeom>
          <a:solidFill>
            <a:srgbClr val="FFF5E5"/>
          </a:solidFill>
          <a:ln w="15240">
            <a:solidFill>
              <a:srgbClr val="F0C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0574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5300"/>
                </a:solidFill>
                <a:latin typeface="Arial"/>
              </a:rPr>
              <a:t>À me confirmer pour finaliser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60604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8A5300"/>
                </a:solidFill>
                <a:latin typeface="Arial"/>
              </a:rPr>
              <a:t>•  </a:t>
            </a:r>
            <a:r>
              <a:rPr sz="1250">
                <a:solidFill>
                  <a:srgbClr val="6B4510"/>
                </a:solidFill>
                <a:latin typeface="Arial"/>
              </a:rPr>
              <a:t>Numéro de téléphone (01 75 51 02 15)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8A5300"/>
                </a:solidFill>
                <a:latin typeface="Arial"/>
              </a:rPr>
              <a:t>•  </a:t>
            </a:r>
            <a:r>
              <a:rPr sz="1250">
                <a:solidFill>
                  <a:srgbClr val="6B4510"/>
                </a:solidFill>
                <a:latin typeface="Arial"/>
              </a:rPr>
              <a:t>Ouverture le dimanche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8A5300"/>
                </a:solidFill>
                <a:latin typeface="Arial"/>
              </a:rPr>
              <a:t>•  </a:t>
            </a:r>
            <a:r>
              <a:rPr sz="1250">
                <a:solidFill>
                  <a:srgbClr val="6B4510"/>
                </a:solidFill>
                <a:latin typeface="Arial"/>
              </a:rPr>
              <a:t>Garantie proposée + durée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8A5300"/>
                </a:solidFill>
                <a:latin typeface="Arial"/>
              </a:rPr>
              <a:t>•  </a:t>
            </a:r>
            <a:r>
              <a:rPr sz="1250">
                <a:solidFill>
                  <a:srgbClr val="6B4510"/>
                </a:solidFill>
                <a:latin typeface="Arial"/>
              </a:rPr>
              <a:t>Marques réparées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8A5300"/>
                </a:solidFill>
                <a:latin typeface="Arial"/>
              </a:rPr>
              <a:t>•  </a:t>
            </a:r>
            <a:r>
              <a:rPr sz="1250">
                <a:solidFill>
                  <a:srgbClr val="6B4510"/>
                </a:solidFill>
                <a:latin typeface="Arial"/>
              </a:rPr>
              <a:t>Délai moyen et quelques prix « à partir de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On met en ligne cette semaine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291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9D6EC"/>
                </a:solidFill>
                <a:latin typeface="Arial"/>
              </a:rPr>
              <a:t>Dès que vous validez les quelques infos, on remplace les dernières mentions « à confirmer » et le site passe en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22B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4515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343"/>
                </a:solidFill>
                <a:latin typeface="Arial"/>
              </a:rPr>
              <a:t>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0916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2BFE6"/>
                </a:solidFill>
                <a:latin typeface="Arial"/>
              </a:rPr>
              <a:t>Tech Point Paris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73 rue de Reuilly, 75012 Paris   ·   01 75 51 02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